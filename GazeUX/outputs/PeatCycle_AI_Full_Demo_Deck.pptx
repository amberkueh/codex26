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a0f5ced074e83" /><Relationship Type="http://schemas.openxmlformats.org/officeDocument/2006/relationships/extended-properties" Target="/docProps/app.xml" Id="R29f610a3ac1444bd" /><Relationship Type="http://schemas.openxmlformats.org/officeDocument/2006/relationships/officeDocument" Target="/ppt/presentation.xml" Id="Re3da23514a574f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904075b9842f1"/>
  </p:sldMasterIdLst>
  <p:notesMasterIdLst>
    <p:notesMasterId xmlns:r="http://schemas.openxmlformats.org/officeDocument/2006/relationships" r:id="Rc70696a0e69c4e55"/>
  </p:notesMasterIdLst>
  <p:sldIdLst>
    <p:sldId xmlns:r="http://schemas.openxmlformats.org/officeDocument/2006/relationships" id="256" r:id="R2da29509c9c14d2d"/>
    <p:sldId xmlns:r="http://schemas.openxmlformats.org/officeDocument/2006/relationships" id="257" r:id="Rfaa4b45e384649bd"/>
    <p:sldId xmlns:r="http://schemas.openxmlformats.org/officeDocument/2006/relationships" id="258" r:id="R1ad6c9d272cd41a7"/>
    <p:sldId xmlns:r="http://schemas.openxmlformats.org/officeDocument/2006/relationships" id="259" r:id="R55481210ae914355"/>
    <p:sldId xmlns:r="http://schemas.openxmlformats.org/officeDocument/2006/relationships" id="260" r:id="Rbb9be0dca9554188"/>
    <p:sldId xmlns:r="http://schemas.openxmlformats.org/officeDocument/2006/relationships" id="261" r:id="R80db4e1f885c4753"/>
    <p:sldId xmlns:r="http://schemas.openxmlformats.org/officeDocument/2006/relationships" id="262" r:id="R76a7047f80014b99"/>
    <p:sldId xmlns:r="http://schemas.openxmlformats.org/officeDocument/2006/relationships" id="263" r:id="R7d0aa5ecee6f491a"/>
    <p:sldId xmlns:r="http://schemas.openxmlformats.org/officeDocument/2006/relationships" id="264" r:id="Re06e27a0e55d4f1f"/>
    <p:sldId xmlns:r="http://schemas.openxmlformats.org/officeDocument/2006/relationships" id="265" r:id="R6eef07328d6d48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22877c8384222" /><Relationship Type="http://schemas.openxmlformats.org/officeDocument/2006/relationships/slideMaster" Target="/ppt/slideMasters/slideMaster1.xml" Id="R88e904075b9842f1" /><Relationship Type="http://schemas.openxmlformats.org/officeDocument/2006/relationships/notesMaster" Target="/ppt/notesMasters/notesMaster1.xml" Id="Rc70696a0e69c4e55" /><Relationship Type="http://schemas.openxmlformats.org/officeDocument/2006/relationships/presProps" Target="/ppt/presProps.xml" Id="Rd92f933d38c84aae" /><Relationship Type="http://schemas.openxmlformats.org/officeDocument/2006/relationships/tableStyles" Target="/ppt/tableStyles.xml" Id="R19ed140a8a114d96" /><Relationship Type="http://schemas.openxmlformats.org/officeDocument/2006/relationships/slide" Target="/ppt/slides/slide1.xml" Id="R2da29509c9c14d2d" /><Relationship Type="http://schemas.openxmlformats.org/officeDocument/2006/relationships/slide" Target="/ppt/slides/slide2.xml" Id="Rfaa4b45e384649bd" /><Relationship Type="http://schemas.openxmlformats.org/officeDocument/2006/relationships/slide" Target="/ppt/slides/slide3.xml" Id="R1ad6c9d272cd41a7" /><Relationship Type="http://schemas.openxmlformats.org/officeDocument/2006/relationships/slide" Target="/ppt/slides/slide4.xml" Id="R55481210ae914355" /><Relationship Type="http://schemas.openxmlformats.org/officeDocument/2006/relationships/slide" Target="/ppt/slides/slide5.xml" Id="Rbb9be0dca9554188" /><Relationship Type="http://schemas.openxmlformats.org/officeDocument/2006/relationships/slide" Target="/ppt/slides/slide6.xml" Id="R80db4e1f885c4753" /><Relationship Type="http://schemas.openxmlformats.org/officeDocument/2006/relationships/slide" Target="/ppt/slides/slide7.xml" Id="R76a7047f80014b99" /><Relationship Type="http://schemas.openxmlformats.org/officeDocument/2006/relationships/slide" Target="/ppt/slides/slide8.xml" Id="R7d0aa5ecee6f491a" /><Relationship Type="http://schemas.openxmlformats.org/officeDocument/2006/relationships/slide" Target="/ppt/slides/slide9.xml" Id="Re06e27a0e55d4f1f" /><Relationship Type="http://schemas.openxmlformats.org/officeDocument/2006/relationships/slide" Target="/ppt/slides/slide10.xml" Id="R6eef07328d6d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45669608a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ca9afbe124d83" /><Relationship Type="http://schemas.openxmlformats.org/officeDocument/2006/relationships/notesMaster" Target="/ppt/notesMasters/notesMaster1.xml" Id="R1c7395d8ad6f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64a51323a4cb2" /><Relationship Type="http://schemas.openxmlformats.org/officeDocument/2006/relationships/notesMaster" Target="/ppt/notesMasters/notesMaster1.xml" Id="R471d790b1c3e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9bead4077d4834" /><Relationship Type="http://schemas.openxmlformats.org/officeDocument/2006/relationships/notesMaster" Target="/ppt/notesMasters/notesMaster1.xml" Id="Rc2960e3f61d7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9a8561cf54f66" /><Relationship Type="http://schemas.openxmlformats.org/officeDocument/2006/relationships/notesMaster" Target="/ppt/notesMasters/notesMaster1.xml" Id="R5a278f9084ca4d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ca24279b644650" /><Relationship Type="http://schemas.openxmlformats.org/officeDocument/2006/relationships/notesMaster" Target="/ppt/notesMasters/notesMaster1.xml" Id="Rffe6a92dbbef46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2e84d8645c4a06" /><Relationship Type="http://schemas.openxmlformats.org/officeDocument/2006/relationships/notesMaster" Target="/ppt/notesMasters/notesMaster1.xml" Id="R8768c09c9e0241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22021b3804921" /><Relationship Type="http://schemas.openxmlformats.org/officeDocument/2006/relationships/notesMaster" Target="/ppt/notesMasters/notesMaster1.xml" Id="R0ac32ea9e7ea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4a3c0b980f467c" /><Relationship Type="http://schemas.openxmlformats.org/officeDocument/2006/relationships/notesMaster" Target="/ppt/notesMasters/notesMaster1.xml" Id="Rea3652d2bee84c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3e35b5b32456d" /><Relationship Type="http://schemas.openxmlformats.org/officeDocument/2006/relationships/notesMaster" Target="/ppt/notesMasters/notesMaster1.xml" Id="R70c288164012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0308b08564721" /><Relationship Type="http://schemas.openxmlformats.org/officeDocument/2006/relationships/notesMaster" Target="/ppt/notesMasters/notesMaster1.xml" Id="R463b6cde65344b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5f4463fdf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55dd67152e4508" /><Relationship Type="http://schemas.openxmlformats.org/officeDocument/2006/relationships/slideLayout" Target="/ppt/slideLayouts/slideLayout1.xml" Id="Rc897043b5cbf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7043b5cbf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17bde925145ab" /><Relationship Type="http://schemas.openxmlformats.org/officeDocument/2006/relationships/notesSlide" Target="/ppt/notesSlides/notesSlide1.xml" Id="R505dee7b82fe4e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1acf6d95b46c2" /><Relationship Type="http://schemas.openxmlformats.org/officeDocument/2006/relationships/notesSlide" Target="/ppt/notesSlides/notesSlide2.xml" Id="R55b6ee6aa4b7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bdc7dde8e47dc" /><Relationship Type="http://schemas.openxmlformats.org/officeDocument/2006/relationships/notesSlide" Target="/ppt/notesSlides/notesSlide3.xml" Id="Rbcd0b67ed7ab4b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375328b644255" /><Relationship Type="http://schemas.openxmlformats.org/officeDocument/2006/relationships/notesSlide" Target="/ppt/notesSlides/notesSlide4.xml" Id="Rc7c2e0373a7243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7c36e50a4e1c" /><Relationship Type="http://schemas.openxmlformats.org/officeDocument/2006/relationships/image" Target="/ppt/media/image.png" Id="R4bce249495724f81" /><Relationship Type="http://schemas.openxmlformats.org/officeDocument/2006/relationships/notesSlide" Target="/ppt/notesSlides/notesSlide5.xml" Id="R1a177f10648b47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fecd73a354a33" /><Relationship Type="http://schemas.openxmlformats.org/officeDocument/2006/relationships/notesSlide" Target="/ppt/notesSlides/notesSlide6.xml" Id="Rd8552ed60dec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4e1b4e5fc49c6" /><Relationship Type="http://schemas.openxmlformats.org/officeDocument/2006/relationships/notesSlide" Target="/ppt/notesSlides/notesSlide7.xml" Id="Rf3d0bb04376a4f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e2e44ebb94580" /><Relationship Type="http://schemas.openxmlformats.org/officeDocument/2006/relationships/notesSlide" Target="/ppt/notesSlides/notesSlide8.xml" Id="R3c7eeb3298a544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1f003df154b8f" /><Relationship Type="http://schemas.openxmlformats.org/officeDocument/2006/relationships/notesSlide" Target="/ppt/notesSlides/notesSlide9.xml" Id="R1f04da467fdc4c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69f8fc8e4d33" /><Relationship Type="http://schemas.openxmlformats.org/officeDocument/2006/relationships/notesSlide" Target="/ppt/notesSlides/notesSlide10.xml" Id="R8630945921aa4a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AC983-3746-431D-A0BB-78C9190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3DC00-D192-422B-A0C8-8F917B5A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0"/>
            <a:ext cx="23812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7FC82-D2DE-4605-80E7-957F22C1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PEATCYCLE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83792-3F3F-4EF9-B387-A1F406C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Prevent the fire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it starts.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07CDE-688D-4EFF-9838-26FDA95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D6C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4D6CB"/>
                </a:solidFill>
                <a:latin typeface="Aptos"/>
                <a:ea typeface="Aptos"/>
                <a:cs typeface="Aptos"/>
              </a:rPr>
              <a:t>Predictive intelligence for Malaysia's peatlands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A5557-7698-4F9B-A12D-49A44A6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143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85846"/>
          </a:solidFill>
          <a:ln xmlns:a="http://schemas.openxmlformats.org/drawingml/2006/main" w="0">
            <a:solidFill>
              <a:srgbClr val="2858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5B8A9-E77A-4044-A1A0-DB6FDFD9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CODEX COMMUNITY MEETUP · KUALA LUMPUR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5021E-DE9B-4965-8063-404D4472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working MVP built with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A151C-F523-4980-8675-38E16DD7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0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D0C2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654C3-1582-452B-A3B5-33E0D15A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8760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6EE6A-5BC4-4C2C-976B-CF018C2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3C7D3-D1FF-46FC-8BC1-1C26AFF4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Peatlands are a natural carbon vault — until they dry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FCDB-FE6C-4BE9-8048-4B3C6AAC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A peatland is a waterlogged ecosystem built from partially decomposed organic matter.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30E84-F2D3-4C44-801B-6AB54D93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5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E626-B7D6-4E4B-831F-A6EFC8B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WHAT MAKES PEATLANDS SPECIAL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CDCD4-61C6-4641-A5C6-BB49815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Waterlogged soil</a:t>
            </a:r>
          </a:p>
          <a:p xmlns:a="http://schemas.openxmlformats.org/drawingml/2006/main">
            <a:pPr algn="l">
              <a:defRPr sz="2025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slows decomposition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D7CD7-AC0D-49B6-904B-FBDBC5D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That stores carbon for centuries and supports unique biodiversity.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D057-DCE2-486C-8775-870B385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238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B8A65"/>
          </a:solidFill>
          <a:ln xmlns:a="http://schemas.openxmlformats.org/drawingml/2006/main" w="0">
            <a:solidFill>
              <a:srgbClr val="2B8A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9FAA6-BB48-4292-B4E2-90BB2DA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CARBON STORED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7593F-E611-4681-91C3-741DD0CA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high-value natural asset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4B28B-95A0-4CE7-8461-4680D4E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5476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E3DDD-9113-4A78-96CD-7CF22CF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65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56552"/>
                </a:solidFill>
                <a:latin typeface="Aptos"/>
                <a:ea typeface="Aptos"/>
                <a:cs typeface="Aptos"/>
              </a:rPr>
              <a:t>WHEN THE WATER TABLE FALLS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AA0E4-27A7-482E-AC4C-64EBC33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F0C54-5D8F-4096-A88F-6566F5EE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0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Peat becomes dry and oxygen-rich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69BC3-A7FD-4346-BB3E-1A429445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36CDE-6E80-46B9-AE90-C68D203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Organic matter becomes fuel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BD6EF-35F2-408F-AA00-5D2E1BF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F5F54-FB52-4530-AA85-1E1F1AEE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528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Fire can smoulder underground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F4FE6-3D02-447B-959F-A5A49A14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1044A-F012-4719-8B1C-CAC145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Haze, emissions and lost livelihoods follow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4060C-93A8-4E90-AADC-54F17F1C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930F9-093F-4EC5-85DF-85AE2D9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6952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1C891-3A4A-4985-88F5-75D8F3F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EC7B5-4703-443A-A1A9-0BB1F780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Today, many teams see the fire after the damage begins.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D5C7F-93F4-4464-844D-D4D66C2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1D5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1D5C8"/>
                </a:solidFill>
                <a:latin typeface="Aptos"/>
                <a:ea typeface="Aptos"/>
                <a:cs typeface="Aptos"/>
              </a:rPr>
              <a:t>Monitoring data exists, but the decision loop is still too reactive.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DB179-DC1B-451B-9FC9-3A2403E0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9525">
            <a:solidFill>
              <a:srgbClr val="2D5A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D6AB6-3F99-4B92-B7BC-06D0B25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9C419-DCB6-42EF-B93F-E5B95FCC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Fragmented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4EC2E-8421-4C65-BAD3-6C441352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5762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Sensors, weather, satellite and field notes live in separate places.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726A-FF48-4809-94A8-11E06DF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9525">
            <a:solidFill>
              <a:srgbClr val="2D5A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4A024-0D22-44DD-8A63-E12B519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43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36AA6-CC72-4543-97C1-42E65E2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535F0-0B2E-437E-AF4D-A9C8C601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By the time smoke is visible, the intervention window is smaller and more expensive.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CD825-9099-4D6D-91CC-A27270C9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23D31"/>
          </a:solidFill>
          <a:ln xmlns:a="http://schemas.openxmlformats.org/drawingml/2006/main" w="9525">
            <a:solidFill>
              <a:srgbClr val="2D5A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A66ED-6E91-44D5-B685-3E852D6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43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77760-DC90-4998-A8E8-60002466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76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Hard-to-prove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3020E-A4D7-4E06-9038-5AE15FF8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5762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Teams need an evidence trail for ESG, insurance and future MRV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E43C2-0345-4617-AC9D-ACA62B11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0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D0C2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20990-592F-46E5-94ED-42A27640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5193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2461A0-7CFA-4423-A786-929EBEFD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4DA03-7E2D-4FC2-8E3C-9D330F1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PeatCycle turns raw signals into a field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286DF-35A2-4039-AD47-5C40C2D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It is a command centre for plantation managers, agencies, conservation teams and ESG owners.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9E1AF-7AF0-42EC-B2C1-FEFE9D04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054B1-9795-46E5-B40F-DC90289B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2F7EF-0496-41D5-9A6B-9FCF152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DE712-BBFB-4954-999E-EEC7A19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IoT + weather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15116-C405-4D31-92F5-7C0161E4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A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D4CD6-3242-4528-93BF-C2183A77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14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28CA8-D041-4AE4-B5D9-9D7FF794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05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B008C-29B0-4927-A69F-92711F1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85E12-CCB7-4D33-A29E-324BE06C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338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AI reasoning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D0E8C-3D81-4FBD-B9D3-2E54E46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A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1636C-57C2-4DFA-974F-EF3BD0E0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4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003B7-FC09-45C0-8D92-8EB16E46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05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5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5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8AB0F-3C3A-4D4F-8106-D5B579F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BADA2-DD0F-4765-8F10-D04C9F13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338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Gates + patrols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2957F-1E11-459D-91C2-BF52A564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8A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22CB5-42DB-49E7-9185-421CE09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E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EC476-C5AC-475C-B62C-52EC833B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5A5BA-8D6A-42F5-BBC0-72BA174D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4241B-3E3F-4CA8-96C5-2F67DA3A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Evidence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83F1B-07BD-44A6-8F68-987B0EA3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843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2B89B-C185-4DB8-BCC9-8D740F21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promise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186B1-8A78-4DA3-89E8-04E119DB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Move from monitoring the peatland to managing the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C82D-9E23-4478-84ED-5B6512D1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5E337-69CC-4599-A477-B793C49B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0426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6F90C-72C0-4B68-8ABA-3B88A9B8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PHYSICAL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D24AF-0B38-4AAF-894A-3B01709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Yes — this can be a real product with real live sensors.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456F1-F120-4052-B35F-88A9E63D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The demo uses simulated telemetry today; the same data contract can accept ESP32 / LoRaWAN field devices later.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e249495724f81"/>
          <a:stretch xmlns:a="http://schemas.openxmlformats.org/drawingml/2006/main"/>
        </p:blipFill>
        <p:spPr>
          <a:xfrm xmlns:a="http://schemas.openxmlformats.org/drawingml/2006/main">
            <a:off x="7739002" y="1714500"/>
            <a:ext cx="2619496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C73F8-2340-497F-82EB-96944699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619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274FF-70A0-4B38-A08E-C028D5D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6668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2C25"/>
          </a:solidFill>
          <a:ln xmlns:a="http://schemas.openxmlformats.org/drawingml/2006/main" w="0">
            <a:solidFill>
              <a:srgbClr val="0B2C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0DD3C-8717-4D78-9D57-898D36A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1514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FIELD SENSOR 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FA36E-99B7-4794-992C-9633F81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A4A78-9A02-4095-8A88-6C36C3C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Water-table depth probe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8305C-798B-423E-BA7D-05C0F1E0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FD133-C54B-4F96-8990-09A1F85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Soil moisture + 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3D1CE-47BE-4A1E-8D00-B9497D26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EA662-8675-4C22-A094-7CE2ADB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Solar power + weatherproof enclosure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25CE8-A9AF-4573-9316-9144AB32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734BC-7B53-487D-923E-54F6E27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LoRa / cellular uplink to PeatCycle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CD18-DF28-442C-A8A3-AB29CF3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Sell hardware as a deployment kit; charge software per hectare/year.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A4B78-ACF7-4104-9272-37FA9D61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821EC-8A27-4DA6-8923-3DE0E40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2008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0AC16-125F-4323-942C-FC6356E5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THE MULTI-AGENT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4B787-415F-46FC-9201-9D988B78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specialists reason in parallel before the dashboard gets an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F2A83-8960-4F7C-849D-0747795C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1D5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1D5C8"/>
                </a:solidFill>
                <a:latin typeface="Aptos"/>
                <a:ea typeface="Aptos"/>
                <a:cs typeface="Aptos"/>
              </a:rPr>
              <a:t>A lightweight orchestration pattern keeps the hackathon demo fast and deterministic.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6283D-CBAB-41FD-B875-BE41062E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4639"/>
          </a:solidFill>
          <a:ln xmlns:a="http://schemas.openxmlformats.org/drawingml/2006/main" w="9525">
            <a:solidFill>
              <a:srgbClr val="5C8C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BFA90-617D-4B5D-9A21-B9BF78C6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RAW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6E8A4-68A4-4049-9789-C381350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Telemetry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BD5CA-968B-4A7E-8F9B-D880F293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E8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D1221-4AA9-4C7E-B9B7-FFDC703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B5E4A"/>
          </a:solidFill>
          <a:ln xmlns:a="http://schemas.openxmlformats.org/drawingml/2006/main" w="9525">
            <a:solidFill>
              <a:srgbClr val="5C8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ACB0B-43B1-461F-88D2-704D326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SPECIALISTS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736CF-B1FB-483E-B955-2A2D9A6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Sensor Agent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 Agent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Weather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2742B-350D-469B-9F26-6F4E462C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433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E8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48F9B-4957-4A41-9A59-A9B004E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447A58"/>
          </a:solidFill>
          <a:ln xmlns:a="http://schemas.openxmlformats.org/drawingml/2006/main" w="9525">
            <a:solidFill>
              <a:srgbClr val="5C8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9F7C6-4C76-4C40-AA16-FAF64B9C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FDC04-1B92-469B-AFCF-D5A8749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index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Ignition %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Carbon at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398D5-01E4-434C-B69A-08E4BB4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433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E8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D75E6-94B7-41B5-8B6B-A14E31D5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5B8D5A"/>
          </a:solidFill>
          <a:ln xmlns:a="http://schemas.openxmlformats.org/drawingml/2006/main" w="9525">
            <a:solidFill>
              <a:srgbClr val="5C8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AD59-EDEF-41E2-A6D8-53B2D630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PRESCRIBE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ECC5E-2291-4952-8E74-A6A54F75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Water gate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Patrol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4CDB-A940-4E35-B165-FA8046EE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52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Promise.all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41B84-766B-4A7D-B73E-09AD3482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57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6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3D6C9"/>
                </a:solidFill>
                <a:latin typeface="Aptos"/>
                <a:ea typeface="Aptos"/>
                <a:cs typeface="Aptos"/>
              </a:rPr>
              <a:t>Parallel specialist execution → shared state → deterministic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B327C-A5FA-4B23-A6C9-8B024101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0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D0C2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32811-C91A-4B93-9E8F-947E6CF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888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751B6-A1D9-49BC-88D0-EEA64DB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OPERATOR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E93E-EA88-4C83-AF8E-217BBB2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The manager sees where the risk is — and what to do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EC5ED-BB75-469C-9D22-EB4B4D0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The overview keeps scope, location, reasoning and action in one operational viewport.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228A0-3C95-4D9D-9F23-1A121D2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FDCB0-1C74-4FCA-828E-7F74CA4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14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FF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386F-3F95-47A7-8CA5-606456BA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565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56552"/>
                </a:solidFill>
                <a:latin typeface="Aptos"/>
                <a:ea typeface="Aptos"/>
                <a:cs typeface="Aptos"/>
              </a:rPr>
              <a:t>BLOCK C ·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B70CB-63BC-4729-B03D-EBCAEE9B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09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E56552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E56552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499E7-C5EA-4132-907C-DFA9A6A0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ignition probability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B92B7-15C1-4CDB-837F-1C9C3A4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E7E44-DBF1-497F-9C32-7CDAA596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DIGITAL TWIN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81903-65BE-4A7D-8289-491A84D7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CC0"/>
          </a:solidFill>
          <a:ln xmlns:a="http://schemas.openxmlformats.org/drawingml/2006/main" w="9525">
            <a:solidFill>
              <a:srgbClr val="86B9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BA580-2607-4CD2-A6F1-866E906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67150"/>
            <a:ext cx="476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6A155-4E55-40F5-ACF7-A6BE556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9433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6537E-C9EF-46A2-B3EA-A3AEEE4A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4D025-F4CB-472D-A0E1-AE86BB40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Moisture 38%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E32AE-794A-4554-AAE8-4DE87832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3991D-809D-4C70-BE16-FF25E11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Surface heat 34.2°C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63F99-59C6-4EE6-968C-5C698EC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EB59A-DF30-4341-B2AB-DED34E3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West wind 18 km/h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754E4-E67C-44F8-ABD9-F31ADDC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16FF5-EDCF-429F-B021-E0584DF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623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Trigger water gate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EDA5B-25E2-44B8-BFE6-5F6819D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893F0-492C-4A80-A170-1ED588EB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3291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CF4EC-5F48-4A1C-9297-A0386F9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2F46-A122-4AD0-88B9-91FB861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One click runs the loop from telemetry to intervention.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35482-8FFA-44D9-8530-DABECC5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The judge can watch the reasoning appear instead of trusting a static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02A19-FB7D-4185-B9E3-982D7FC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70CE7-8C0E-4708-ACF7-F8D991D5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64F2E-B6D4-4617-9D15-BFC267E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Sensor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E9BF0-7753-46AA-B98E-DB38DBF3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Moisture 38% · water table 42 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5BC07-AA14-4B2D-A561-396A577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65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6552"/>
                </a:solidFill>
                <a:latin typeface="Aptos"/>
                <a:ea typeface="Aptos"/>
                <a:cs typeface="Aptos"/>
              </a:rPr>
              <a:t>+38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857E6-BEE4-47CF-92F7-A749ABD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607C5-081D-4CAB-A5E6-6B64B29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62697-966E-4970-9178-0ECEF17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38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Vision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E9F49-2DF0-4EBF-989C-2D5D56BA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34.2°C · dry biomass detected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347A1-C60F-47C5-98EF-A856C69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3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35A"/>
                </a:solidFill>
                <a:latin typeface="Aptos"/>
                <a:ea typeface="Aptos"/>
                <a:cs typeface="Aptos"/>
              </a:rPr>
              <a:t>+27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B9DB0-A1B4-4DA3-9F7D-E493BA1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1769C-E9DB-49B5-9FA4-5B98705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0E240-7505-419B-BD91-79AD15D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Weather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831F3-B26E-4EF3-86FF-2F21A582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18 km/h wind · 58% humidity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2E132-B155-489A-8F44-7AA13BB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A7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A7B8"/>
                </a:solidFill>
                <a:latin typeface="Aptos"/>
                <a:ea typeface="Aptos"/>
                <a:cs typeface="Aptos"/>
              </a:rPr>
              <a:t>+18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70332-70FC-4A3E-A4D7-BE5B4BC6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2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17A76-D015-44FB-813F-2D16145E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87F38-A20B-455A-9FAB-CCEF2B5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3D6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3D6C9"/>
                </a:solidFill>
                <a:latin typeface="Aptos"/>
                <a:ea typeface="Aptos"/>
                <a:cs typeface="Aptos"/>
              </a:rPr>
              <a:t>GLOBAL RISK 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D4E66-8D12-4A9E-86BF-C54E5BA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agents coordinated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743FF-FE2D-4119-B0DD-A86FEEB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actions recommended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9BA78-E3F7-4350-B9A4-3856A4D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1AD86-69E4-490D-8C60-B36C60D5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1675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10829-A9F2-4429-8138-A2B9241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THE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89687-ED1C-4003-A1D8-1F933B2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business model follows the value of the asset and the buyer.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563AC-638D-4F2F-AE08-C603FE4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1D5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1D5C8"/>
                </a:solidFill>
                <a:latin typeface="Aptos"/>
                <a:ea typeface="Aptos"/>
                <a:cs typeface="Aptos"/>
              </a:rPr>
              <a:t>Commercially, PeatCycle is more than a generic SaaS subscription.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85234-665C-4BFC-94E0-719BADF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PLANTATIONS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AC6A9-EF22-4257-8BA0-0663177E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Tiered per hectare /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BE6D0-DBFE-42CF-9567-9EC6AA85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Cost scales with the estate being protected.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04888-2149-4591-96A1-6E480DE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GOVERNMENT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EC9FC-455C-4A20-AB88-8CD71D7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Annual enterprise 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6D682-99BC-490D-AC78-54D9126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Fits budget cycles, tenders and dedicated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A32C3-56A9-4104-89F4-0CFBA640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INSURERS + ESG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077D8-F1CA-44D7-985D-70ABB7DC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Readiness and evidence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4F4DC-96E8-44BA-88E4-910DFDA5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0D4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0D4C8"/>
                </a:solidFill>
                <a:latin typeface="Aptos"/>
                <a:ea typeface="Aptos"/>
                <a:cs typeface="Aptos"/>
              </a:rPr>
              <a:t>Supports underwriting and cuts audit preparation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72E96-5AC4-4748-9313-DAB84232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90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4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5AAE7-F9BF-41E7-8CAF-2F60BB86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Positioning: pre-compliance and risk reduction — not an instant carbon-credit promise.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04905-5A5F-46B0-93A4-4C85518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0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D0C2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5C5CE-68A4-4091-A5AD-DC648DF1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1438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A38B1-6475-48FA-8B9F-A7BF5A2B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4F59-A529-45E3-BF3D-D11CEA2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82D"/>
                </a:solidFill>
                <a:latin typeface="Aptos"/>
                <a:ea typeface="Aptos"/>
                <a:cs typeface="Aptos"/>
              </a:rPr>
              <a:t>PeatCycle makes the next decision visible — before the fire does.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7A9C1-6779-40F7-A29C-6362A421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857D"/>
                </a:solidFill>
                <a:latin typeface="Aptos"/>
                <a:ea typeface="Aptos"/>
                <a:cs typeface="Aptos"/>
              </a:rPr>
              <a:t>We are ready to move from a working MVP to a field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D83B0-7CC1-40C8-BD25-31494B0D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048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B2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568C3-95D7-439E-A41E-C2F3736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E8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E86A"/>
                </a:solidFill>
                <a:latin typeface="Aptos"/>
                <a:ea typeface="Aptos"/>
                <a:cs typeface="Aptos"/>
              </a:rPr>
              <a:t>NEXT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65CE7-B824-46A2-AAFE-A0360A04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Instrument one estate.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first live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water-table network.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9ACF2-7F5C-4A8F-B8F6-0D347EA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48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5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2AA9F-A179-4EF1-AB70-A2ED2EA6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WHAT SUCCESS LOOKS LIKE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F2BEC-73F0-44E1-98E1-D9EBF73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ED19C-5C76-4E7A-919A-A4C73481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Earlier warnings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A54A-6B44-4D1F-B47C-D0C69CF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13EC1-C9CF-486F-AD28-3023506B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19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Faster field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B9F4F-7A15-40D7-880A-BAD58555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5B74F-4F99-4111-B36F-DA7DB89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8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82D"/>
                </a:solidFill>
                <a:latin typeface="Aptos"/>
                <a:ea typeface="Aptos"/>
                <a:cs typeface="Aptos"/>
              </a:rPr>
              <a:t>Audit-ready intervention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5F606-7095-428A-BD87-6D4C2A3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Protect the peat. Protect the people. Prove the impact.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A2BB5-8BF2-44E2-A36D-A1734527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585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5857D"/>
                </a:solidFill>
                <a:latin typeface="Aptos"/>
                <a:ea typeface="Aptos"/>
                <a:cs typeface="Aptos"/>
              </a:rPr>
              <a:t>PEATCYCLE AI  |  PREDICTIVE PEATLAND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AB8DD-F974-4D16-A2AC-391014E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B8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8A6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460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2026-07-17T12:00:08.7780000Z</dcterms:created>
  <dcterms:modified xsi:type="dcterms:W3CDTF">2026-07-17T12:00:08.7780000Z</dcterms:modified>
</coreProperties>
</file>